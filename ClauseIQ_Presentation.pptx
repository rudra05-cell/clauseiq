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7"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901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B90FB-BEE2-F59D-17C5-F37E31E4C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34451-C4C8-4169-543A-87582EBBC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AEC76-CE22-14FB-3369-3743ACDCBC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EE31A7-DCB7-4DB8-22DC-0B776FE88FA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34160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txBody>
          <a:bodyPr/>
          <a:lstStyle/>
          <a:p>
            <a:endParaRPr lang="en-IN" dirty="0"/>
          </a:p>
        </p:txBody>
      </p:sp>
      <p:sp>
        <p:nvSpPr>
          <p:cNvPr id="3" name="Shape 1"/>
          <p:cNvSpPr/>
          <p:nvPr/>
        </p:nvSpPr>
        <p:spPr>
          <a:xfrm>
            <a:off x="1503680" y="5735320"/>
            <a:ext cx="9445752" cy="0"/>
          </a:xfrm>
          <a:prstGeom prst="line">
            <a:avLst/>
          </a:prstGeom>
          <a:noFill/>
          <a:ln w="19050">
            <a:solidFill>
              <a:srgbClr val="1E2761"/>
            </a:solidFill>
            <a:prstDash val="solid"/>
          </a:ln>
        </p:spPr>
      </p:sp>
      <p:sp>
        <p:nvSpPr>
          <p:cNvPr id="4" name="Text 2"/>
          <p:cNvSpPr txBox="1"/>
          <p:nvPr/>
        </p:nvSpPr>
        <p:spPr>
          <a:xfrm>
            <a:off x="6350" y="1588689"/>
            <a:ext cx="12188952" cy="1105179"/>
          </a:xfrm>
          <a:prstGeom prst="rect">
            <a:avLst/>
          </a:prstGeom>
          <a:noFill/>
          <a:ln/>
        </p:spPr>
        <p:txBody>
          <a:bodyPr wrap="square" lIns="0" tIns="0" rIns="0" bIns="0" rtlCol="0" anchor="ctr"/>
          <a:lstStyle/>
          <a:p>
            <a:pPr algn="ctr">
              <a:lnSpc>
                <a:spcPct val="150000"/>
              </a:lnSpc>
            </a:pPr>
            <a:r>
              <a:rPr lang="en-US" sz="2400" dirty="0">
                <a:latin typeface="Times New Roman" panose="02020603050405020304" pitchFamily="18" charset="0"/>
                <a:cs typeface="Times New Roman" panose="02020603050405020304" pitchFamily="18" charset="0"/>
              </a:rPr>
              <a:t>Title: </a:t>
            </a:r>
            <a:r>
              <a:rPr lang="en-US" sz="2400" dirty="0" err="1">
                <a:latin typeface="Times New Roman" panose="02020603050405020304" pitchFamily="18" charset="0"/>
                <a:cs typeface="Times New Roman" panose="02020603050405020304" pitchFamily="18" charset="0"/>
              </a:rPr>
              <a:t>ClauseIQ</a:t>
            </a:r>
            <a:r>
              <a:rPr lang="en-US" sz="2400" dirty="0">
                <a:latin typeface="Times New Roman" panose="02020603050405020304" pitchFamily="18" charset="0"/>
                <a:cs typeface="Times New Roman" panose="02020603050405020304" pitchFamily="18" charset="0"/>
              </a:rPr>
              <a:t>: An NLP-Based Contract Clause Risk Classification System</a:t>
            </a:r>
          </a:p>
          <a:p>
            <a:pPr algn="ctr">
              <a:lnSpc>
                <a:spcPct val="150000"/>
              </a:lnSpc>
            </a:pPr>
            <a:r>
              <a:rPr lang="en-US" sz="2400" dirty="0">
                <a:latin typeface="Times New Roman" panose="02020603050405020304" pitchFamily="18" charset="0"/>
                <a:cs typeface="Times New Roman" panose="02020603050405020304" pitchFamily="18" charset="0"/>
              </a:rPr>
              <a:t>Under the Guidance of Prof. Naresh Shende</a:t>
            </a:r>
          </a:p>
        </p:txBody>
      </p:sp>
      <p:sp>
        <p:nvSpPr>
          <p:cNvPr id="6" name="Text 4"/>
          <p:cNvSpPr txBox="1"/>
          <p:nvPr/>
        </p:nvSpPr>
        <p:spPr>
          <a:xfrm>
            <a:off x="-6350" y="5252721"/>
            <a:ext cx="12188952" cy="365760"/>
          </a:xfrm>
          <a:prstGeom prst="rect">
            <a:avLst/>
          </a:prstGeom>
          <a:noFill/>
          <a:ln/>
        </p:spPr>
        <p:txBody>
          <a:bodyPr wrap="square" lIns="0" tIns="0" rIns="0" bIns="0"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Domain: Natural Language Processing (NLP)</a:t>
            </a:r>
            <a:endParaRPr lang="en-US" sz="1400" dirty="0"/>
          </a:p>
        </p:txBody>
      </p:sp>
      <p:pic>
        <p:nvPicPr>
          <p:cNvPr id="9" name="Picture 8">
            <a:extLst>
              <a:ext uri="{FF2B5EF4-FFF2-40B4-BE49-F238E27FC236}">
                <a16:creationId xmlns:a16="http://schemas.microsoft.com/office/drawing/2014/main" id="{18963883-8A0C-139A-54EF-CD720386AB94}"/>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0" name="TextBox 9">
            <a:extLst>
              <a:ext uri="{FF2B5EF4-FFF2-40B4-BE49-F238E27FC236}">
                <a16:creationId xmlns:a16="http://schemas.microsoft.com/office/drawing/2014/main" id="{06360A13-1F38-9CD4-0C2A-0AF07C21071E}"/>
              </a:ext>
            </a:extLst>
          </p:cNvPr>
          <p:cNvSpPr txBox="1"/>
          <p:nvPr/>
        </p:nvSpPr>
        <p:spPr>
          <a:xfrm>
            <a:off x="3228340" y="1140975"/>
            <a:ext cx="543814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34C021B-CF71-D4A0-4AC6-AD8371E844C4}"/>
              </a:ext>
            </a:extLst>
          </p:cNvPr>
          <p:cNvSpPr txBox="1"/>
          <p:nvPr/>
        </p:nvSpPr>
        <p:spPr>
          <a:xfrm>
            <a:off x="5404866" y="2869168"/>
            <a:ext cx="139192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Group No. 8</a:t>
            </a:r>
            <a:endParaRPr lang="en-IN"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0F0420F0-E164-DCF9-281D-1254FB809AF1}"/>
              </a:ext>
            </a:extLst>
          </p:cNvPr>
          <p:cNvGraphicFramePr>
            <a:graphicFrameLocks noGrp="1"/>
          </p:cNvGraphicFramePr>
          <p:nvPr>
            <p:extLst>
              <p:ext uri="{D42A27DB-BD31-4B8C-83A1-F6EECF244321}">
                <p14:modId xmlns:p14="http://schemas.microsoft.com/office/powerpoint/2010/main" val="28377927"/>
              </p:ext>
            </p:extLst>
          </p:nvPr>
        </p:nvGraphicFramePr>
        <p:xfrm>
          <a:off x="2156460" y="3505934"/>
          <a:ext cx="8128000" cy="1112520"/>
        </p:xfrm>
        <a:graphic>
          <a:graphicData uri="http://schemas.openxmlformats.org/drawingml/2006/table">
            <a:tbl>
              <a:tblPr firstRow="1" bandRow="1">
                <a:tableStyleId>{0505E3EF-67EA-436B-97B2-0124C06EBD24}</a:tableStyleId>
              </a:tblPr>
              <a:tblGrid>
                <a:gridCol w="4064000">
                  <a:extLst>
                    <a:ext uri="{9D8B030D-6E8A-4147-A177-3AD203B41FA5}">
                      <a16:colId xmlns:a16="http://schemas.microsoft.com/office/drawing/2014/main" val="940782317"/>
                    </a:ext>
                  </a:extLst>
                </a:gridCol>
                <a:gridCol w="4064000">
                  <a:extLst>
                    <a:ext uri="{9D8B030D-6E8A-4147-A177-3AD203B41FA5}">
                      <a16:colId xmlns:a16="http://schemas.microsoft.com/office/drawing/2014/main" val="2586746724"/>
                    </a:ext>
                  </a:extLst>
                </a:gridCol>
              </a:tblGrid>
              <a:tr h="370840">
                <a:tc>
                  <a:txBody>
                    <a:bodyPr/>
                    <a:lstStyle/>
                    <a:p>
                      <a:r>
                        <a:rPr lang="en-US" dirty="0">
                          <a:latin typeface="Times New Roman" panose="02020603050405020304" pitchFamily="18" charset="0"/>
                          <a:cs typeface="Times New Roman" panose="02020603050405020304" pitchFamily="18" charset="0"/>
                        </a:rPr>
                        <a:t>Student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Roll No.</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9496193"/>
                  </a:ext>
                </a:extLst>
              </a:tr>
              <a:tr h="370840">
                <a:tc>
                  <a:txBody>
                    <a:bodyPr/>
                    <a:lstStyle/>
                    <a:p>
                      <a:r>
                        <a:rPr lang="en-US" dirty="0">
                          <a:latin typeface="Times New Roman" panose="02020603050405020304" pitchFamily="18" charset="0"/>
                          <a:cs typeface="Times New Roman" panose="02020603050405020304" pitchFamily="18" charset="0"/>
                        </a:rPr>
                        <a:t>Atharv Patil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728</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9104389"/>
                  </a:ext>
                </a:extLst>
              </a:tr>
              <a:tr h="370840">
                <a:tc>
                  <a:txBody>
                    <a:bodyPr/>
                    <a:lstStyle/>
                    <a:p>
                      <a:r>
                        <a:rPr lang="en-US" dirty="0">
                          <a:latin typeface="Times New Roman" panose="02020603050405020304" pitchFamily="18" charset="0"/>
                          <a:cs typeface="Times New Roman" panose="02020603050405020304" pitchFamily="18" charset="0"/>
                        </a:rPr>
                        <a:t>Rudra Pawar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730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583407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18160" y="1579880"/>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1. Abstract</a:t>
            </a:r>
            <a:endParaRPr lang="en-US" sz="2000" dirty="0"/>
          </a:p>
        </p:txBody>
      </p:sp>
      <p:sp>
        <p:nvSpPr>
          <p:cNvPr id="3" name="Shape 1"/>
          <p:cNvSpPr/>
          <p:nvPr/>
        </p:nvSpPr>
        <p:spPr>
          <a:xfrm>
            <a:off x="548640" y="2118360"/>
            <a:ext cx="11091672" cy="0"/>
          </a:xfrm>
          <a:prstGeom prst="line">
            <a:avLst/>
          </a:prstGeom>
          <a:noFill/>
          <a:ln w="15875">
            <a:solidFill>
              <a:srgbClr val="1E2761"/>
            </a:solidFill>
            <a:prstDash val="solid"/>
          </a:ln>
        </p:spPr>
      </p:sp>
      <p:sp>
        <p:nvSpPr>
          <p:cNvPr id="4" name="Text 2"/>
          <p:cNvSpPr txBox="1"/>
          <p:nvPr/>
        </p:nvSpPr>
        <p:spPr>
          <a:xfrm>
            <a:off x="548640" y="2577247"/>
            <a:ext cx="11091672" cy="3764279"/>
          </a:xfrm>
          <a:prstGeom prst="rect">
            <a:avLst/>
          </a:prstGeom>
          <a:noFill/>
          <a:ln/>
        </p:spPr>
        <p:txBody>
          <a:bodyPr wrap="square" lIns="0" tIns="0" rIns="0" bIns="0" rtlCol="0" anchor="t"/>
          <a:lstStyle/>
          <a:p>
            <a:pPr algn="just"/>
            <a:r>
              <a:rPr lang="en-IN" dirty="0"/>
              <a:t>The </a:t>
            </a:r>
            <a:r>
              <a:rPr lang="en-IN" b="1" dirty="0"/>
              <a:t>Contract Clause Risk Classifier</a:t>
            </a:r>
            <a:r>
              <a:rPr lang="en-IN" dirty="0"/>
              <a:t> is an AI-based system designed to automatically </a:t>
            </a:r>
            <a:r>
              <a:rPr lang="en-IN" dirty="0" err="1"/>
              <a:t>analyze</a:t>
            </a:r>
            <a:r>
              <a:rPr lang="en-IN" dirty="0"/>
              <a:t> legal contract clauses and identify potential risks. The system uses </a:t>
            </a:r>
            <a:r>
              <a:rPr lang="en-IN" b="1" dirty="0"/>
              <a:t>Natural Language Processing (NLP) and Machine Learning</a:t>
            </a:r>
            <a:r>
              <a:rPr lang="en-IN" dirty="0"/>
              <a:t> techniques to classify contract clauses into relevant categories and assess their risk levels. By reducing the need for completely manual contract review, the proposed system aims to make the analysis process faster, more consistent, and easier to understand. It can assist users in identifying potentially risky clauses and supporting better decision-making during contract review.</a:t>
            </a:r>
            <a:endParaRPr lang="en-US" dirty="0">
              <a:latin typeface="Times New Roman" panose="02020603050405020304" pitchFamily="18" charset="0"/>
              <a:cs typeface="Times New Roman" panose="02020603050405020304" pitchFamily="18" charset="0"/>
            </a:endParaRPr>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6" name="Text 4"/>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1</a:t>
            </a:r>
            <a:endParaRPr lang="en-US" sz="1000" dirty="0"/>
          </a:p>
        </p:txBody>
      </p:sp>
      <p:pic>
        <p:nvPicPr>
          <p:cNvPr id="8" name="Picture 7">
            <a:extLst>
              <a:ext uri="{FF2B5EF4-FFF2-40B4-BE49-F238E27FC236}">
                <a16:creationId xmlns:a16="http://schemas.microsoft.com/office/drawing/2014/main" id="{7356CC27-4698-081A-4691-347EAD7E2B44}"/>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0" name="TextBox 9">
            <a:extLst>
              <a:ext uri="{FF2B5EF4-FFF2-40B4-BE49-F238E27FC236}">
                <a16:creationId xmlns:a16="http://schemas.microsoft.com/office/drawing/2014/main" id="{300D3FCE-8ECF-E546-ABB3-04D723B865EC}"/>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AF826D-5ED4-B04B-D940-E48574B7D3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2CC50B-F8F5-AFBB-88FA-6CCA20350016}"/>
              </a:ext>
            </a:extLst>
          </p:cNvPr>
          <p:cNvSpPr txBox="1"/>
          <p:nvPr/>
        </p:nvSpPr>
        <p:spPr>
          <a:xfrm>
            <a:off x="518160" y="1579880"/>
            <a:ext cx="11091672" cy="548640"/>
          </a:xfrm>
          <a:prstGeom prst="rect">
            <a:avLst/>
          </a:prstGeom>
          <a:noFill/>
          <a:ln/>
        </p:spPr>
        <p:txBody>
          <a:bodyPr wrap="square" lIns="0" tIns="0" rIns="0" bIns="0" rtlCol="0" anchor="ctr"/>
          <a:lstStyle/>
          <a:p>
            <a:pPr marL="0" indent="0" algn="l">
              <a:buNone/>
            </a:pPr>
            <a:endParaRPr lang="en-US" sz="2000" dirty="0"/>
          </a:p>
        </p:txBody>
      </p:sp>
      <p:sp>
        <p:nvSpPr>
          <p:cNvPr id="3" name="Shape 1">
            <a:extLst>
              <a:ext uri="{FF2B5EF4-FFF2-40B4-BE49-F238E27FC236}">
                <a16:creationId xmlns:a16="http://schemas.microsoft.com/office/drawing/2014/main" id="{3EDA6459-2AD0-8023-9398-FD48D3CD5B7B}"/>
              </a:ext>
            </a:extLst>
          </p:cNvPr>
          <p:cNvSpPr/>
          <p:nvPr/>
        </p:nvSpPr>
        <p:spPr>
          <a:xfrm>
            <a:off x="548640" y="2118360"/>
            <a:ext cx="11091672" cy="0"/>
          </a:xfrm>
          <a:prstGeom prst="line">
            <a:avLst/>
          </a:prstGeom>
          <a:noFill/>
          <a:ln w="15875">
            <a:solidFill>
              <a:srgbClr val="1E2761"/>
            </a:solidFill>
            <a:prstDash val="solid"/>
          </a:ln>
        </p:spPr>
      </p:sp>
      <p:sp>
        <p:nvSpPr>
          <p:cNvPr id="5" name="Text 3">
            <a:extLst>
              <a:ext uri="{FF2B5EF4-FFF2-40B4-BE49-F238E27FC236}">
                <a16:creationId xmlns:a16="http://schemas.microsoft.com/office/drawing/2014/main" id="{EC626E64-E3C6-804C-ED80-D74C850564D3}"/>
              </a:ext>
            </a:extLst>
          </p:cNvPr>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6" name="Text 4">
            <a:extLst>
              <a:ext uri="{FF2B5EF4-FFF2-40B4-BE49-F238E27FC236}">
                <a16:creationId xmlns:a16="http://schemas.microsoft.com/office/drawing/2014/main" id="{32540F42-D76E-266D-8A76-E3A6CDC07BA3}"/>
              </a:ext>
            </a:extLst>
          </p:cNvPr>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1</a:t>
            </a:r>
            <a:endParaRPr lang="en-US" sz="1000" dirty="0"/>
          </a:p>
        </p:txBody>
      </p:sp>
      <p:pic>
        <p:nvPicPr>
          <p:cNvPr id="8" name="Picture 7">
            <a:extLst>
              <a:ext uri="{FF2B5EF4-FFF2-40B4-BE49-F238E27FC236}">
                <a16:creationId xmlns:a16="http://schemas.microsoft.com/office/drawing/2014/main" id="{DF8B24A7-248C-19AC-F917-E6AAB2F0F176}"/>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0" name="TextBox 9">
            <a:extLst>
              <a:ext uri="{FF2B5EF4-FFF2-40B4-BE49-F238E27FC236}">
                <a16:creationId xmlns:a16="http://schemas.microsoft.com/office/drawing/2014/main" id="{50ACBE37-D91A-FCCB-CC70-5EDDE7402592}"/>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
        <p:nvSpPr>
          <p:cNvPr id="12" name="Text 3">
            <a:extLst>
              <a:ext uri="{FF2B5EF4-FFF2-40B4-BE49-F238E27FC236}">
                <a16:creationId xmlns:a16="http://schemas.microsoft.com/office/drawing/2014/main" id="{F731A632-4507-840B-8479-CD71167F19C5}"/>
              </a:ext>
            </a:extLst>
          </p:cNvPr>
          <p:cNvSpPr txBox="1"/>
          <p:nvPr/>
        </p:nvSpPr>
        <p:spPr>
          <a:xfrm>
            <a:off x="536956" y="2264663"/>
            <a:ext cx="11091672" cy="3313167"/>
          </a:xfrm>
          <a:prstGeom prst="rect">
            <a:avLst/>
          </a:prstGeom>
          <a:noFill/>
          <a:ln/>
        </p:spPr>
        <p:txBody>
          <a:bodyPr wrap="square" lIns="0" tIns="0" rIns="0" bIns="0" rtlCol="0" anchor="t"/>
          <a:lstStyle/>
          <a:p>
            <a:pPr algn="just">
              <a:lnSpc>
                <a:spcPct val="115000"/>
              </a:lnSpc>
            </a:pPr>
            <a:r>
              <a:rPr lang="en-US" sz="1400" dirty="0" err="1">
                <a:solidFill>
                  <a:srgbClr val="000000"/>
                </a:solidFill>
                <a:latin typeface="Times New Roman" panose="02020603050405020304" pitchFamily="18" charset="0"/>
                <a:ea typeface="Times New Roman" pitchFamily="34" charset="-122"/>
                <a:cs typeface="Times New Roman" panose="02020603050405020304" pitchFamily="18" charset="0"/>
              </a:rPr>
              <a:t>ClauseIQ</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 is an NLP-based system that automatically classifies contract clauses into legal categories and flags their risk level. The system is built on the Contract Understanding Atticus Dataset (CUAD) and combines a trained multi-label text classifier with rule-based risk analysis. Given a full contract or a single pasted clause, </a:t>
            </a:r>
            <a:r>
              <a:rPr lang="en-US" sz="1400" dirty="0" err="1">
                <a:solidFill>
                  <a:srgbClr val="000000"/>
                </a:solidFill>
                <a:latin typeface="Times New Roman" panose="02020603050405020304" pitchFamily="18" charset="0"/>
                <a:ea typeface="Times New Roman" pitchFamily="34" charset="-122"/>
                <a:cs typeface="Times New Roman" panose="02020603050405020304" pitchFamily="18" charset="0"/>
              </a:rPr>
              <a:t>ClauseIQ</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 segments the text into individual clauses, classifies each clause into one or more of six legal categories (Termination, Renewal Term, Renewal Notice Period, Liability Cap, Uncapped Liability, and Non-Compete), and assigns a Low, Medium, or High risk rating based on specific red-flag wording such as missing notice periods, uncapped liability language, broad non-compete scope, and one-sided termination rights.</a:t>
            </a:r>
            <a:endParaRPr lang="en-US" sz="1400" dirty="0">
              <a:latin typeface="Times New Roman" panose="02020603050405020304" pitchFamily="18" charset="0"/>
              <a:cs typeface="Times New Roman" panose="02020603050405020304" pitchFamily="18" charset="0"/>
            </a:endParaRPr>
          </a:p>
          <a:p>
            <a:pPr algn="just">
              <a:lnSpc>
                <a:spcPct val="115000"/>
              </a:lnSpc>
            </a:pPr>
            <a:endParaRPr lang="en-US" sz="1400" dirty="0">
              <a:latin typeface="Times New Roman" panose="02020603050405020304" pitchFamily="18" charset="0"/>
              <a:cs typeface="Times New Roman" panose="02020603050405020304" pitchFamily="18" charset="0"/>
            </a:endParaRPr>
          </a:p>
          <a:p>
            <a:pPr algn="just">
              <a:lnSpc>
                <a:spcPct val="115000"/>
              </a:lnSpc>
            </a:pP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Two classification models are supported: a fast TF-IDF with Logistic Regression baseline that is always available, and an optional fine-tuned transformer (Legal-BERT / </a:t>
            </a:r>
            <a:r>
              <a:rPr lang="en-US" sz="1400" dirty="0" err="1">
                <a:solidFill>
                  <a:srgbClr val="000000"/>
                </a:solidFill>
                <a:latin typeface="Times New Roman" panose="02020603050405020304" pitchFamily="18" charset="0"/>
                <a:ea typeface="Times New Roman" pitchFamily="34" charset="-122"/>
                <a:cs typeface="Times New Roman" panose="02020603050405020304" pitchFamily="18" charset="0"/>
              </a:rPr>
              <a:t>DistilBERT</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 that can be enabled for improved accuracy. Every prediction is accompanied by an explainability view showing the key terms that drove the classification, a confidence score, and — for high-risk clauses — a rule-based suggested rewrite. The baseline model achieves a Macro F1 of 0.853 and a Micro F1 of 0.892 on held-out CUAD data. </a:t>
            </a:r>
            <a:r>
              <a:rPr lang="en-US" sz="1400" dirty="0" err="1">
                <a:solidFill>
                  <a:srgbClr val="000000"/>
                </a:solidFill>
                <a:latin typeface="Times New Roman" panose="02020603050405020304" pitchFamily="18" charset="0"/>
                <a:ea typeface="Times New Roman" pitchFamily="34" charset="-122"/>
                <a:cs typeface="Times New Roman" panose="02020603050405020304" pitchFamily="18" charset="0"/>
              </a:rPr>
              <a:t>ClauseIQ</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 is delivered as an interactive </a:t>
            </a:r>
            <a:r>
              <a:rPr lang="en-US" sz="1400" dirty="0" err="1">
                <a:solidFill>
                  <a:srgbClr val="000000"/>
                </a:solidFill>
                <a:latin typeface="Times New Roman" panose="02020603050405020304" pitchFamily="18" charset="0"/>
                <a:ea typeface="Times New Roman" pitchFamily="34" charset="-122"/>
                <a:cs typeface="Times New Roman" panose="02020603050405020304" pitchFamily="18" charset="0"/>
              </a:rPr>
              <a:t>Streamlit</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 web application that highlights flagged sections directly within the contract and allows results to be exported as CSV or PDF reports, making contract review faster and more consistent for non-legal-expert users.</a:t>
            </a:r>
            <a:endParaRPr lang="en-US" sz="1400" dirty="0">
              <a:latin typeface="Times New Roman" panose="02020603050405020304" pitchFamily="18" charset="0"/>
              <a:cs typeface="Times New Roman" panose="02020603050405020304" pitchFamily="18" charset="0"/>
            </a:endParaRPr>
          </a:p>
        </p:txBody>
      </p:sp>
      <p:sp>
        <p:nvSpPr>
          <p:cNvPr id="14" name="Text 0">
            <a:extLst>
              <a:ext uri="{FF2B5EF4-FFF2-40B4-BE49-F238E27FC236}">
                <a16:creationId xmlns:a16="http://schemas.microsoft.com/office/drawing/2014/main" id="{40CEFB9D-2D83-63D9-F716-EAFA33A1DDFB}"/>
              </a:ext>
            </a:extLst>
          </p:cNvPr>
          <p:cNvSpPr txBox="1"/>
          <p:nvPr/>
        </p:nvSpPr>
        <p:spPr>
          <a:xfrm>
            <a:off x="528320" y="1552920"/>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2. Introduction</a:t>
            </a:r>
            <a:endParaRPr lang="en-US" sz="2000" dirty="0"/>
          </a:p>
        </p:txBody>
      </p:sp>
    </p:spTree>
    <p:extLst>
      <p:ext uri="{BB962C8B-B14F-4D97-AF65-F5344CB8AC3E}">
        <p14:creationId xmlns:p14="http://schemas.microsoft.com/office/powerpoint/2010/main" val="1339132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568196"/>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3. Literature Survey</a:t>
            </a:r>
            <a:endParaRPr lang="en-US" sz="2000" dirty="0"/>
          </a:p>
        </p:txBody>
      </p:sp>
      <p:sp>
        <p:nvSpPr>
          <p:cNvPr id="3" name="Shape 1"/>
          <p:cNvSpPr/>
          <p:nvPr/>
        </p:nvSpPr>
        <p:spPr>
          <a:xfrm>
            <a:off x="548640" y="2225040"/>
            <a:ext cx="11091672" cy="0"/>
          </a:xfrm>
          <a:prstGeom prst="line">
            <a:avLst/>
          </a:prstGeom>
          <a:noFill/>
          <a:ln w="15875">
            <a:solidFill>
              <a:srgbClr val="1E2761"/>
            </a:solidFill>
            <a:prstDash val="solid"/>
          </a:ln>
        </p:spPr>
        <p:txBody>
          <a:bodyPr/>
          <a:lstStyle/>
          <a:p>
            <a:endParaRPr lang="en-IN" dirty="0"/>
          </a:p>
        </p:txBody>
      </p:sp>
      <p:graphicFrame>
        <p:nvGraphicFramePr>
          <p:cNvPr id="5" name="Table 0"/>
          <p:cNvGraphicFramePr>
            <a:graphicFrameLocks noGrp="1"/>
          </p:cNvGraphicFramePr>
          <p:nvPr>
            <p:extLst>
              <p:ext uri="{D42A27DB-BD31-4B8C-83A1-F6EECF244321}">
                <p14:modId xmlns:p14="http://schemas.microsoft.com/office/powerpoint/2010/main" val="1979043126"/>
              </p:ext>
            </p:extLst>
          </p:nvPr>
        </p:nvGraphicFramePr>
        <p:xfrm>
          <a:off x="735076" y="2441448"/>
          <a:ext cx="10718800" cy="3852672"/>
        </p:xfrm>
        <a:graphic>
          <a:graphicData uri="http://schemas.openxmlformats.org/drawingml/2006/table">
            <a:tbl>
              <a:tblPr/>
              <a:tblGrid>
                <a:gridCol w="412949">
                  <a:extLst>
                    <a:ext uri="{9D8B030D-6E8A-4147-A177-3AD203B41FA5}">
                      <a16:colId xmlns:a16="http://schemas.microsoft.com/office/drawing/2014/main" val="20000"/>
                    </a:ext>
                  </a:extLst>
                </a:gridCol>
                <a:gridCol w="1727860">
                  <a:extLst>
                    <a:ext uri="{9D8B030D-6E8A-4147-A177-3AD203B41FA5}">
                      <a16:colId xmlns:a16="http://schemas.microsoft.com/office/drawing/2014/main" val="20001"/>
                    </a:ext>
                  </a:extLst>
                </a:gridCol>
                <a:gridCol w="1740191">
                  <a:extLst>
                    <a:ext uri="{9D8B030D-6E8A-4147-A177-3AD203B41FA5}">
                      <a16:colId xmlns:a16="http://schemas.microsoft.com/office/drawing/2014/main" val="20002"/>
                    </a:ext>
                  </a:extLst>
                </a:gridCol>
                <a:gridCol w="3437202">
                  <a:extLst>
                    <a:ext uri="{9D8B030D-6E8A-4147-A177-3AD203B41FA5}">
                      <a16:colId xmlns:a16="http://schemas.microsoft.com/office/drawing/2014/main" val="20003"/>
                    </a:ext>
                  </a:extLst>
                </a:gridCol>
                <a:gridCol w="3400598">
                  <a:extLst>
                    <a:ext uri="{9D8B030D-6E8A-4147-A177-3AD203B41FA5}">
                      <a16:colId xmlns:a16="http://schemas.microsoft.com/office/drawing/2014/main" val="1041594928"/>
                    </a:ext>
                  </a:extLst>
                </a:gridCol>
              </a:tblGrid>
              <a:tr h="457200">
                <a:tc>
                  <a:txBody>
                    <a:bodyPr/>
                    <a:lstStyle/>
                    <a:p>
                      <a:pPr marL="0" indent="0" algn="l">
                        <a:buNone/>
                      </a:pPr>
                      <a:r>
                        <a:rPr lang="en-US" sz="1400" b="1" dirty="0">
                          <a:solidFill>
                            <a:srgbClr val="000000"/>
                          </a:solidFill>
                          <a:latin typeface="Times New Roman" panose="02020603050405020304" pitchFamily="18" charset="0"/>
                          <a:ea typeface="Times New Roman" pitchFamily="34" charset="-122"/>
                          <a:cs typeface="Times New Roman" panose="02020603050405020304" pitchFamily="18" charset="0"/>
                        </a:rPr>
                        <a:t>Ref.</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b="1">
                          <a:solidFill>
                            <a:srgbClr val="000000"/>
                          </a:solidFill>
                          <a:latin typeface="Times New Roman" panose="02020603050405020304" pitchFamily="18" charset="0"/>
                          <a:ea typeface="Times New Roman" pitchFamily="34" charset="-122"/>
                          <a:cs typeface="Times New Roman" panose="02020603050405020304" pitchFamily="18" charset="0"/>
                        </a:rPr>
                        <a:t>Authors / Work</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b="1" dirty="0">
                          <a:solidFill>
                            <a:srgbClr val="000000"/>
                          </a:solidFill>
                          <a:latin typeface="Times New Roman" panose="02020603050405020304" pitchFamily="18" charset="0"/>
                          <a:ea typeface="Times New Roman" charset="0"/>
                          <a:cs typeface="Times New Roman" panose="02020603050405020304" pitchFamily="18" charset="0"/>
                        </a:rPr>
                        <a:t>What it does</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b="1" dirty="0">
                          <a:solidFill>
                            <a:srgbClr val="000000"/>
                          </a:solidFill>
                          <a:latin typeface="Times New Roman" panose="02020603050405020304" pitchFamily="18" charset="0"/>
                          <a:ea typeface="Times New Roman" charset="0"/>
                          <a:cs typeface="Times New Roman" panose="02020603050405020304" pitchFamily="18" charset="0"/>
                        </a:rPr>
                        <a:t>Limitation/ Gaps</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IN" sz="1400" dirty="0">
                          <a:latin typeface="Times New Roman" panose="02020603050405020304" pitchFamily="18" charset="0"/>
                          <a:cs typeface="Times New Roman" panose="02020603050405020304" pitchFamily="18" charset="0"/>
                        </a:rPr>
                        <a:t>What your project adds</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868680">
                <a:tc>
                  <a:txBody>
                    <a:bodyPr/>
                    <a:lstStyle/>
                    <a:p>
                      <a:pPr marL="0" indent="0" algn="l">
                        <a:buNone/>
                      </a:pP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[1]</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Hendrycks et al. — CUAD</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Provides a large expert-</a:t>
                      </a:r>
                      <a:r>
                        <a:rPr lang="en-IN" sz="1400" dirty="0" err="1">
                          <a:latin typeface="Times New Roman" panose="02020603050405020304" pitchFamily="18" charset="0"/>
                          <a:cs typeface="Times New Roman" panose="02020603050405020304" pitchFamily="18" charset="0"/>
                        </a:rPr>
                        <a:t>labeled</a:t>
                      </a:r>
                      <a:r>
                        <a:rPr lang="en-IN" sz="1400" dirty="0">
                          <a:latin typeface="Times New Roman" panose="02020603050405020304" pitchFamily="18" charset="0"/>
                          <a:cs typeface="Times New Roman" panose="02020603050405020304" pitchFamily="18" charset="0"/>
                        </a:rPr>
                        <a:t> dataset for identifying </a:t>
                      </a:r>
                      <a:r>
                        <a:rPr lang="en-IN" sz="1400" b="1" dirty="0">
                          <a:latin typeface="Times New Roman" panose="02020603050405020304" pitchFamily="18" charset="0"/>
                          <a:cs typeface="Times New Roman" panose="02020603050405020304" pitchFamily="18" charset="0"/>
                        </a:rPr>
                        <a:t>41 types of contractual clauses</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Primarily focuses on </a:t>
                      </a:r>
                      <a:r>
                        <a:rPr lang="en-IN" sz="1400" b="1" dirty="0">
                          <a:latin typeface="Times New Roman" panose="02020603050405020304" pitchFamily="18" charset="0"/>
                          <a:cs typeface="Times New Roman" panose="02020603050405020304" pitchFamily="18" charset="0"/>
                        </a:rPr>
                        <a:t>clause identification/extraction</a:t>
                      </a:r>
                      <a:r>
                        <a:rPr lang="en-IN" sz="1400" dirty="0">
                          <a:latin typeface="Times New Roman" panose="02020603050405020304" pitchFamily="18" charset="0"/>
                          <a:cs typeface="Times New Roman" panose="02020603050405020304" pitchFamily="18" charset="0"/>
                        </a:rPr>
                        <a:t>, not an end-to-end </a:t>
                      </a:r>
                      <a:r>
                        <a:rPr lang="en-IN" sz="1400" b="1" dirty="0">
                          <a:latin typeface="Times New Roman" panose="02020603050405020304" pitchFamily="18" charset="0"/>
                          <a:cs typeface="Times New Roman" panose="02020603050405020304" pitchFamily="18" charset="0"/>
                        </a:rPr>
                        <a:t>risk-level classification</a:t>
                      </a:r>
                      <a:r>
                        <a:rPr lang="en-IN" sz="1400" dirty="0">
                          <a:latin typeface="Times New Roman" panose="02020603050405020304" pitchFamily="18" charset="0"/>
                          <a:cs typeface="Times New Roman" panose="02020603050405020304" pitchFamily="18" charset="0"/>
                        </a:rPr>
                        <a:t> system.</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Uses contract data to perform </a:t>
                      </a:r>
                      <a:r>
                        <a:rPr lang="en-IN" sz="1400" b="1" dirty="0">
                          <a:latin typeface="Times New Roman" panose="02020603050405020304" pitchFamily="18" charset="0"/>
                          <a:cs typeface="Times New Roman" panose="02020603050405020304" pitchFamily="18" charset="0"/>
                        </a:rPr>
                        <a:t>risk classification (Low/Medium/High)</a:t>
                      </a:r>
                      <a:r>
                        <a:rPr lang="en-IN" sz="1400" dirty="0">
                          <a:latin typeface="Times New Roman" panose="02020603050405020304" pitchFamily="18" charset="0"/>
                          <a:cs typeface="Times New Roman" panose="02020603050405020304" pitchFamily="18" charset="0"/>
                        </a:rPr>
                        <a:t> and highlight clauses requiring attention.</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lgn="l">
                        <a:buNone/>
                      </a:pPr>
                      <a:r>
                        <a:rPr lang="en-US" sz="1400">
                          <a:solidFill>
                            <a:srgbClr val="000000"/>
                          </a:solidFill>
                          <a:latin typeface="Times New Roman" panose="02020603050405020304" pitchFamily="18" charset="0"/>
                          <a:ea typeface="Times New Roman" pitchFamily="34" charset="-122"/>
                          <a:cs typeface="Times New Roman" panose="02020603050405020304" pitchFamily="18" charset="0"/>
                        </a:rPr>
                        <a:t>[2]</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a:solidFill>
                            <a:srgbClr val="000000"/>
                          </a:solidFill>
                          <a:latin typeface="Times New Roman" panose="02020603050405020304" pitchFamily="18" charset="0"/>
                          <a:ea typeface="Times New Roman" pitchFamily="34" charset="-122"/>
                          <a:cs typeface="Times New Roman" panose="02020603050405020304" pitchFamily="18" charset="0"/>
                        </a:rPr>
                        <a:t>Devlin et al. — BERT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Introduces transformer-based contextual language understanding for text classification.</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General-purpose model; it is </a:t>
                      </a:r>
                      <a:r>
                        <a:rPr lang="en-IN" sz="1400" b="1" dirty="0">
                          <a:latin typeface="Times New Roman" panose="02020603050405020304" pitchFamily="18" charset="0"/>
                          <a:cs typeface="Times New Roman" panose="02020603050405020304" pitchFamily="18" charset="0"/>
                        </a:rPr>
                        <a:t>not specifically designed for contract-risk analysis</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Applies NLP specifically to </a:t>
                      </a:r>
                      <a:r>
                        <a:rPr lang="en-IN" sz="1400" b="1" dirty="0">
                          <a:latin typeface="Times New Roman" panose="02020603050405020304" pitchFamily="18" charset="0"/>
                          <a:cs typeface="Times New Roman" panose="02020603050405020304" pitchFamily="18" charset="0"/>
                        </a:rPr>
                        <a:t>contract clause risk assessment</a:t>
                      </a:r>
                      <a:r>
                        <a:rPr lang="en-IN" sz="1400" dirty="0">
                          <a:latin typeface="Times New Roman" panose="02020603050405020304" pitchFamily="18" charset="0"/>
                          <a:cs typeface="Times New Roman" panose="02020603050405020304" pitchFamily="18" charset="0"/>
                        </a:rPr>
                        <a:t>, rather than generic text classification.</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lgn="l">
                        <a:buNone/>
                      </a:pPr>
                      <a:r>
                        <a:rPr lang="en-US" sz="1400">
                          <a:solidFill>
                            <a:srgbClr val="000000"/>
                          </a:solidFill>
                          <a:latin typeface="Times New Roman" panose="02020603050405020304" pitchFamily="18" charset="0"/>
                          <a:ea typeface="Times New Roman" pitchFamily="34" charset="-122"/>
                          <a:cs typeface="Times New Roman" panose="02020603050405020304" pitchFamily="18" charset="0"/>
                        </a:rPr>
                        <a:t>[3]</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a:solidFill>
                            <a:srgbClr val="000000"/>
                          </a:solidFill>
                          <a:latin typeface="Times New Roman" panose="02020603050405020304" pitchFamily="18" charset="0"/>
                          <a:ea typeface="Times New Roman" pitchFamily="34" charset="-122"/>
                          <a:cs typeface="Times New Roman" panose="02020603050405020304" pitchFamily="18" charset="0"/>
                        </a:rPr>
                        <a:t>Chalkidis et al. — LEGAL-BERT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Adapts BERT to the </a:t>
                      </a:r>
                      <a:r>
                        <a:rPr lang="en-IN" sz="1400" b="1" dirty="0">
                          <a:latin typeface="Times New Roman" panose="02020603050405020304" pitchFamily="18" charset="0"/>
                          <a:cs typeface="Times New Roman" panose="02020603050405020304" pitchFamily="18" charset="0"/>
                        </a:rPr>
                        <a:t>legal domain</a:t>
                      </a:r>
                      <a:r>
                        <a:rPr lang="en-IN" sz="1400" dirty="0">
                          <a:latin typeface="Times New Roman" panose="02020603050405020304" pitchFamily="18" charset="0"/>
                          <a:cs typeface="Times New Roman" panose="02020603050405020304" pitchFamily="18" charset="0"/>
                        </a:rPr>
                        <a:t> for better understanding of legal language.</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Focuses on </a:t>
                      </a:r>
                      <a:r>
                        <a:rPr lang="en-IN" sz="1400" b="1" dirty="0">
                          <a:latin typeface="Times New Roman" panose="02020603050405020304" pitchFamily="18" charset="0"/>
                          <a:cs typeface="Times New Roman" panose="02020603050405020304" pitchFamily="18" charset="0"/>
                        </a:rPr>
                        <a:t>legal NLP tasks broadly</a:t>
                      </a:r>
                      <a:r>
                        <a:rPr lang="en-IN" sz="1400" dirty="0">
                          <a:latin typeface="Times New Roman" panose="02020603050405020304" pitchFamily="18" charset="0"/>
                          <a:cs typeface="Times New Roman" panose="02020603050405020304" pitchFamily="18" charset="0"/>
                        </a:rPr>
                        <a:t>, rather than providing a complete clause-level risk assessment and explanation workflow.</a:t>
                      </a:r>
                      <a:r>
                        <a:rPr lang="en-US" sz="1400" dirty="0">
                          <a:solidFill>
                            <a:srgbClr val="000000"/>
                          </a:solidFill>
                          <a:latin typeface="Times New Roman" panose="02020603050405020304" pitchFamily="18" charset="0"/>
                          <a:ea typeface="Times New Roman" pitchFamily="34" charset="-122"/>
                          <a:cs typeface="Times New Roman" panose="02020603050405020304" pitchFamily="18" charset="0"/>
                        </a:rPr>
                        <a: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IN" sz="1400" dirty="0">
                          <a:latin typeface="Times New Roman" panose="02020603050405020304" pitchFamily="18" charset="0"/>
                          <a:cs typeface="Times New Roman" panose="02020603050405020304" pitchFamily="18" charset="0"/>
                        </a:rPr>
                        <a:t>Combines clause classification with </a:t>
                      </a:r>
                      <a:r>
                        <a:rPr lang="en-IN" sz="1400" b="1" dirty="0">
                          <a:latin typeface="Times New Roman" panose="02020603050405020304" pitchFamily="18" charset="0"/>
                          <a:cs typeface="Times New Roman" panose="02020603050405020304" pitchFamily="18" charset="0"/>
                        </a:rPr>
                        <a:t>risk assessment and user-oriented risk interpretation</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ea typeface="Times New Roman" charset="0"/>
                        <a:cs typeface="Times New Roman" panose="02020603050405020304" pitchFamily="18" charset="0"/>
                      </a:endParaRPr>
                    </a:p>
                  </a:txBody>
                  <a:tcPr marL="73152" marR="73152"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6" name="Text 3"/>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3</a:t>
            </a:r>
            <a:endParaRPr lang="en-US" sz="1000" dirty="0"/>
          </a:p>
        </p:txBody>
      </p:sp>
      <p:pic>
        <p:nvPicPr>
          <p:cNvPr id="8" name="Picture 7">
            <a:extLst>
              <a:ext uri="{FF2B5EF4-FFF2-40B4-BE49-F238E27FC236}">
                <a16:creationId xmlns:a16="http://schemas.microsoft.com/office/drawing/2014/main" id="{D513703D-E22E-DD7A-7304-646BFEC09BF3}"/>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0" name="TextBox 9">
            <a:extLst>
              <a:ext uri="{FF2B5EF4-FFF2-40B4-BE49-F238E27FC236}">
                <a16:creationId xmlns:a16="http://schemas.microsoft.com/office/drawing/2014/main" id="{0C893748-CEAF-5681-74AC-7494A8E37601}"/>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718529"/>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4. Existing System</a:t>
            </a:r>
            <a:endParaRPr lang="en-US" sz="2000" dirty="0"/>
          </a:p>
        </p:txBody>
      </p:sp>
      <p:sp>
        <p:nvSpPr>
          <p:cNvPr id="3" name="Shape 1"/>
          <p:cNvSpPr/>
          <p:nvPr/>
        </p:nvSpPr>
        <p:spPr>
          <a:xfrm>
            <a:off x="548640" y="2267169"/>
            <a:ext cx="11091672" cy="0"/>
          </a:xfrm>
          <a:prstGeom prst="line">
            <a:avLst/>
          </a:prstGeom>
          <a:noFill/>
          <a:ln w="15875">
            <a:solidFill>
              <a:srgbClr val="1E2761"/>
            </a:solidFill>
            <a:prstDash val="solid"/>
          </a:ln>
        </p:spPr>
      </p:sp>
      <p:sp>
        <p:nvSpPr>
          <p:cNvPr id="4" name="Text 2"/>
          <p:cNvSpPr txBox="1"/>
          <p:nvPr/>
        </p:nvSpPr>
        <p:spPr>
          <a:xfrm>
            <a:off x="548640" y="2359117"/>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Current Approaches</a:t>
            </a:r>
            <a:endParaRPr lang="en-US" sz="1600" dirty="0"/>
          </a:p>
        </p:txBody>
      </p:sp>
      <p:sp>
        <p:nvSpPr>
          <p:cNvPr id="5" name="Text 3"/>
          <p:cNvSpPr txBox="1"/>
          <p:nvPr/>
        </p:nvSpPr>
        <p:spPr>
          <a:xfrm>
            <a:off x="548640" y="2788394"/>
            <a:ext cx="11091672" cy="182880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Contract risk review today is handled primarily through three approaches: (i) manual review by lawyers or paralegals, which is accurate but slow, expensive, and does not scale; (ii) generic keyword or clause-library search tools embedded in document management software, which locate clause types but provide no risk judgment; and (iii) commercial contract-review platforms (e.g. enterprise CLM tools) that offer clause extraction but are costly, closed-source, and typically trained on narrow proprietary datasets not adapted for lightweight or academic use.</a:t>
            </a:r>
            <a:endParaRPr lang="en-US" sz="1400" dirty="0"/>
          </a:p>
        </p:txBody>
      </p:sp>
      <p:sp>
        <p:nvSpPr>
          <p:cNvPr id="6" name="Text 4"/>
          <p:cNvSpPr txBox="1"/>
          <p:nvPr/>
        </p:nvSpPr>
        <p:spPr>
          <a:xfrm>
            <a:off x="548640" y="4095461"/>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Limitations</a:t>
            </a:r>
            <a:endParaRPr lang="en-US" sz="1400" dirty="0"/>
          </a:p>
        </p:txBody>
      </p:sp>
      <p:sp>
        <p:nvSpPr>
          <p:cNvPr id="7" name="Text 5"/>
          <p:cNvSpPr txBox="1"/>
          <p:nvPr/>
        </p:nvSpPr>
        <p:spPr>
          <a:xfrm>
            <a:off x="548640" y="4453128"/>
            <a:ext cx="11091672" cy="219456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Existing tools generally classify clause type without quantifying risk severity; offer little to no explainability for why a clause was flagged; lack a transparent, rule-based reasoning layer that a non-expert can verify; and are rarely open, affordable, or extensible for individual or small-business use. There is a clear gap for a system that combines accurate clause classification with interpretable, rule-based risk scoring and explainability in one accessible tool.</a:t>
            </a:r>
            <a:endParaRPr lang="en-US" sz="1400" dirty="0"/>
          </a:p>
        </p:txBody>
      </p:sp>
      <p:sp>
        <p:nvSpPr>
          <p:cNvPr id="8" name="Text 6"/>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9" name="Text 7"/>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4</a:t>
            </a:r>
            <a:endParaRPr lang="en-US" sz="1000" dirty="0"/>
          </a:p>
        </p:txBody>
      </p:sp>
      <p:pic>
        <p:nvPicPr>
          <p:cNvPr id="11" name="Picture 10">
            <a:extLst>
              <a:ext uri="{FF2B5EF4-FFF2-40B4-BE49-F238E27FC236}">
                <a16:creationId xmlns:a16="http://schemas.microsoft.com/office/drawing/2014/main" id="{9C731B76-0184-31F0-AECC-2F0A891C5B7C}"/>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3" name="TextBox 12">
            <a:extLst>
              <a:ext uri="{FF2B5EF4-FFF2-40B4-BE49-F238E27FC236}">
                <a16:creationId xmlns:a16="http://schemas.microsoft.com/office/drawing/2014/main" id="{EB45F291-478C-5B29-8D7A-575D43838351}"/>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811528"/>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5. Problem Statement and Objective</a:t>
            </a:r>
            <a:endParaRPr lang="en-US" sz="2000" dirty="0"/>
          </a:p>
        </p:txBody>
      </p:sp>
      <p:sp>
        <p:nvSpPr>
          <p:cNvPr id="3" name="Shape 1"/>
          <p:cNvSpPr/>
          <p:nvPr/>
        </p:nvSpPr>
        <p:spPr>
          <a:xfrm>
            <a:off x="548640" y="2382520"/>
            <a:ext cx="11091672" cy="0"/>
          </a:xfrm>
          <a:prstGeom prst="line">
            <a:avLst/>
          </a:prstGeom>
          <a:noFill/>
          <a:ln w="15875">
            <a:solidFill>
              <a:srgbClr val="1E2761"/>
            </a:solidFill>
            <a:prstDash val="solid"/>
          </a:ln>
        </p:spPr>
        <p:txBody>
          <a:bodyPr/>
          <a:lstStyle/>
          <a:p>
            <a:endParaRPr lang="en-IN" dirty="0"/>
          </a:p>
        </p:txBody>
      </p:sp>
      <p:sp>
        <p:nvSpPr>
          <p:cNvPr id="4" name="Text 2"/>
          <p:cNvSpPr txBox="1"/>
          <p:nvPr/>
        </p:nvSpPr>
        <p:spPr>
          <a:xfrm>
            <a:off x="548640" y="2552192"/>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Problem Statement</a:t>
            </a:r>
            <a:endParaRPr lang="en-US" sz="1600" dirty="0"/>
          </a:p>
        </p:txBody>
      </p:sp>
      <p:sp>
        <p:nvSpPr>
          <p:cNvPr id="5" name="Text 3"/>
          <p:cNvSpPr txBox="1"/>
          <p:nvPr/>
        </p:nvSpPr>
        <p:spPr>
          <a:xfrm>
            <a:off x="548640" y="2874265"/>
            <a:ext cx="11091672" cy="192024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Existing contract-review workflows rely on manual reading by legal experts or on generic clause-search tools that identify clause type but do not assess risk. This makes review slow, costly, and inconsistent, and leaves individuals and small businesses without an accessible way to detect risky wording — such as uncapped liability, missing renewal notice periods, or one-sided termination rights — before signing a contract. There is a need for an automated, interpretable system that not only classifies contract clauses but also quantifies their risk and explains its reasoning in plain language.</a:t>
            </a:r>
            <a:endParaRPr lang="en-US" sz="1400" dirty="0"/>
          </a:p>
        </p:txBody>
      </p:sp>
      <p:sp>
        <p:nvSpPr>
          <p:cNvPr id="6" name="Text 4"/>
          <p:cNvSpPr txBox="1"/>
          <p:nvPr/>
        </p:nvSpPr>
        <p:spPr>
          <a:xfrm>
            <a:off x="548640" y="3977640"/>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Objective</a:t>
            </a:r>
            <a:endParaRPr lang="en-US" sz="1600" dirty="0"/>
          </a:p>
        </p:txBody>
      </p:sp>
      <p:sp>
        <p:nvSpPr>
          <p:cNvPr id="7" name="Text 5"/>
          <p:cNvSpPr txBox="1"/>
          <p:nvPr/>
        </p:nvSpPr>
        <p:spPr>
          <a:xfrm>
            <a:off x="548640" y="4270248"/>
            <a:ext cx="11091672" cy="237744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To design and build ClauseIQ, an NLP-based system that: (i) classifies contract clauses into legally significant categories using a model trained on the CUAD dataset; (ii) applies transparent, rule-based checks to assign each clause a Low, Medium, or High risk rating; (iii) explains every prediction with the key terms behind it and a confidence score, and suggests stronger wording for high-risk clauses; and (iv) delivers all of this through an accessible web application with exportable reports, reducing the time and expertise needed for reliable contract review.</a:t>
            </a:r>
            <a:endParaRPr lang="en-US" sz="1400" dirty="0"/>
          </a:p>
        </p:txBody>
      </p:sp>
      <p:sp>
        <p:nvSpPr>
          <p:cNvPr id="8" name="Text 6"/>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9" name="Text 7"/>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5</a:t>
            </a:r>
            <a:endParaRPr lang="en-US" sz="1000" dirty="0"/>
          </a:p>
        </p:txBody>
      </p:sp>
      <p:pic>
        <p:nvPicPr>
          <p:cNvPr id="11" name="Picture 10">
            <a:extLst>
              <a:ext uri="{FF2B5EF4-FFF2-40B4-BE49-F238E27FC236}">
                <a16:creationId xmlns:a16="http://schemas.microsoft.com/office/drawing/2014/main" id="{9E31A865-8194-19D8-D726-5B2FA25FA1CB}"/>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4" name="TextBox 13">
            <a:extLst>
              <a:ext uri="{FF2B5EF4-FFF2-40B4-BE49-F238E27FC236}">
                <a16:creationId xmlns:a16="http://schemas.microsoft.com/office/drawing/2014/main" id="{831F29FA-BB8A-453C-DD9A-5827D26AA74F}"/>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541019"/>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6. Proposed System</a:t>
            </a:r>
            <a:endParaRPr lang="en-US" sz="2000" dirty="0"/>
          </a:p>
        </p:txBody>
      </p:sp>
      <p:sp>
        <p:nvSpPr>
          <p:cNvPr id="3" name="Shape 1"/>
          <p:cNvSpPr/>
          <p:nvPr/>
        </p:nvSpPr>
        <p:spPr>
          <a:xfrm>
            <a:off x="548640" y="2138680"/>
            <a:ext cx="11091672" cy="0"/>
          </a:xfrm>
          <a:prstGeom prst="line">
            <a:avLst/>
          </a:prstGeom>
          <a:noFill/>
          <a:ln w="15875">
            <a:solidFill>
              <a:srgbClr val="1E2761"/>
            </a:solidFill>
            <a:prstDash val="solid"/>
          </a:ln>
        </p:spPr>
        <p:txBody>
          <a:bodyPr/>
          <a:lstStyle/>
          <a:p>
            <a:endParaRPr lang="en-IN" dirty="0"/>
          </a:p>
        </p:txBody>
      </p:sp>
      <p:sp>
        <p:nvSpPr>
          <p:cNvPr id="4" name="Text 2"/>
          <p:cNvSpPr txBox="1"/>
          <p:nvPr/>
        </p:nvSpPr>
        <p:spPr>
          <a:xfrm>
            <a:off x="548640" y="2236724"/>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Overview</a:t>
            </a:r>
            <a:endParaRPr lang="en-US" sz="1400" dirty="0"/>
          </a:p>
        </p:txBody>
      </p:sp>
      <p:sp>
        <p:nvSpPr>
          <p:cNvPr id="5" name="Text 3"/>
          <p:cNvSpPr txBox="1"/>
          <p:nvPr/>
        </p:nvSpPr>
        <p:spPr>
          <a:xfrm>
            <a:off x="548640" y="2596896"/>
            <a:ext cx="11091672" cy="68580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ClauseIQ addresses these gaps by combining a CUAD-trained multi-label classifier with a transparent, rule-based risk-scoring layer and built-in explainability, delivered through an accessible web application.</a:t>
            </a:r>
            <a:endParaRPr lang="en-US" sz="1400" dirty="0"/>
          </a:p>
        </p:txBody>
      </p:sp>
      <p:sp>
        <p:nvSpPr>
          <p:cNvPr id="6" name="Text 4"/>
          <p:cNvSpPr txBox="1"/>
          <p:nvPr/>
        </p:nvSpPr>
        <p:spPr>
          <a:xfrm>
            <a:off x="548640" y="3282696"/>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Key Features</a:t>
            </a:r>
            <a:endParaRPr lang="en-US" sz="1600" dirty="0"/>
          </a:p>
        </p:txBody>
      </p:sp>
      <p:sp>
        <p:nvSpPr>
          <p:cNvPr id="7" name="Text 5"/>
          <p:cNvSpPr txBox="1"/>
          <p:nvPr/>
        </p:nvSpPr>
        <p:spPr>
          <a:xfrm>
            <a:off x="548640" y="3710432"/>
            <a:ext cx="11091672" cy="3749040"/>
          </a:xfrm>
          <a:prstGeom prst="rect">
            <a:avLst/>
          </a:prstGeom>
          <a:noFill/>
          <a:ln/>
        </p:spPr>
        <p:txBody>
          <a:bodyPr wrap="square" lIns="0" tIns="0" rIns="0" bIns="0" rtlCol="0" anchor="t"/>
          <a:lstStyle/>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Document analysis: upload a full contract (PDF, DOCX, TXT); it is automatically split into clauses, classified, and risk-scored.</a:t>
            </a:r>
            <a:endParaRPr lang="en-US" sz="1400" dirty="0"/>
          </a:p>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Single clause analysis: paste an individual clause for a quick, on-demand check.</a:t>
            </a:r>
            <a:endParaRPr lang="en-US" sz="1400" dirty="0"/>
          </a:p>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Risk scoring: clauses flagged Low, Medium, or High based on specific wording patterns.</a:t>
            </a:r>
            <a:endParaRPr lang="en-US" sz="1400" dirty="0"/>
          </a:p>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Explainability: </a:t>
            </a:r>
            <a:r>
              <a:rPr lang="en-US" sz="1600" dirty="0">
                <a:solidFill>
                  <a:srgbClr val="000000"/>
                </a:solidFill>
                <a:latin typeface="Times New Roman" pitchFamily="34" charset="0"/>
                <a:ea typeface="Times New Roman" pitchFamily="34" charset="-122"/>
                <a:cs typeface="Times New Roman" pitchFamily="34" charset="-120"/>
              </a:rPr>
              <a:t>every</a:t>
            </a:r>
            <a:r>
              <a:rPr lang="en-US" sz="1400" dirty="0">
                <a:solidFill>
                  <a:srgbClr val="000000"/>
                </a:solidFill>
                <a:latin typeface="Times New Roman" pitchFamily="34" charset="0"/>
                <a:ea typeface="Times New Roman" pitchFamily="34" charset="-122"/>
                <a:cs typeface="Times New Roman" pitchFamily="34" charset="-120"/>
              </a:rPr>
              <a:t> result shows the key terms driving the classification, plus a confidence score.</a:t>
            </a:r>
            <a:endParaRPr lang="en-US" sz="1400" dirty="0"/>
          </a:p>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Suggested rewrites: high-risk clauses receive a rule-based suggestion for stronger wording.</a:t>
            </a:r>
            <a:endParaRPr lang="en-US" sz="1400" dirty="0"/>
          </a:p>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Dual models: a fast TF-IDF + Logistic Regression baseline, and an optional fine-tuned transformer.</a:t>
            </a:r>
            <a:endParaRPr lang="en-US" sz="1400" dirty="0"/>
          </a:p>
          <a:p>
            <a:pPr marL="0" indent="0" algn="l">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 Exportable, highlighted reports: document view with colour-coded risk, downloadable as CSV or PDF.</a:t>
            </a:r>
            <a:endParaRPr lang="en-US" sz="1400" dirty="0"/>
          </a:p>
        </p:txBody>
      </p:sp>
      <p:sp>
        <p:nvSpPr>
          <p:cNvPr id="8" name="Text 6"/>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9" name="Text 7"/>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6</a:t>
            </a:r>
            <a:endParaRPr lang="en-US" sz="1000" dirty="0"/>
          </a:p>
        </p:txBody>
      </p:sp>
      <p:pic>
        <p:nvPicPr>
          <p:cNvPr id="11" name="Picture 10">
            <a:extLst>
              <a:ext uri="{FF2B5EF4-FFF2-40B4-BE49-F238E27FC236}">
                <a16:creationId xmlns:a16="http://schemas.microsoft.com/office/drawing/2014/main" id="{E501882A-5A89-84FB-B1BD-A771C454F67C}"/>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3" name="TextBox 12">
            <a:extLst>
              <a:ext uri="{FF2B5EF4-FFF2-40B4-BE49-F238E27FC236}">
                <a16:creationId xmlns:a16="http://schemas.microsoft.com/office/drawing/2014/main" id="{83D6EA74-B1C6-57DE-0AA2-5C9DBBA4AF31}"/>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7. System Architecture</a:t>
            </a:r>
            <a:endParaRPr lang="en-US" sz="2000" dirty="0"/>
          </a:p>
        </p:txBody>
      </p:sp>
      <p:sp>
        <p:nvSpPr>
          <p:cNvPr id="3" name="Shape 1"/>
          <p:cNvSpPr/>
          <p:nvPr/>
        </p:nvSpPr>
        <p:spPr>
          <a:xfrm>
            <a:off x="548640" y="868680"/>
            <a:ext cx="11091672" cy="0"/>
          </a:xfrm>
          <a:prstGeom prst="line">
            <a:avLst/>
          </a:prstGeom>
          <a:noFill/>
          <a:ln w="15875">
            <a:solidFill>
              <a:srgbClr val="1E2761"/>
            </a:solidFill>
            <a:prstDash val="solid"/>
          </a:ln>
        </p:spPr>
      </p:sp>
      <p:pic>
        <p:nvPicPr>
          <p:cNvPr id="4" name="Image 0" descr="/mnt/user-data/uploads/1790423874641_WhatsApp_Image_2026-08-15_at_9_46_52_PM.jpeg"/>
          <p:cNvPicPr>
            <a:picLocks noChangeAspect="1"/>
          </p:cNvPicPr>
          <p:nvPr/>
        </p:nvPicPr>
        <p:blipFill>
          <a:blip r:embed="rId3"/>
          <a:srcRect/>
          <a:stretch/>
        </p:blipFill>
        <p:spPr>
          <a:xfrm>
            <a:off x="960120" y="1051560"/>
            <a:ext cx="10241280" cy="5074920"/>
          </a:xfrm>
          <a:prstGeom prst="rect">
            <a:avLst/>
          </a:prstGeom>
        </p:spPr>
      </p:pic>
      <p:sp>
        <p:nvSpPr>
          <p:cNvPr id="5" name="Text 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6" name="Text 3"/>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896873"/>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8. Implementation Details</a:t>
            </a:r>
            <a:endParaRPr lang="en-US" sz="2000" dirty="0"/>
          </a:p>
        </p:txBody>
      </p:sp>
      <p:sp>
        <p:nvSpPr>
          <p:cNvPr id="3" name="Shape 1"/>
          <p:cNvSpPr/>
          <p:nvPr/>
        </p:nvSpPr>
        <p:spPr>
          <a:xfrm>
            <a:off x="548640" y="2473960"/>
            <a:ext cx="11091672" cy="0"/>
          </a:xfrm>
          <a:prstGeom prst="line">
            <a:avLst/>
          </a:prstGeom>
          <a:noFill/>
          <a:ln w="15875">
            <a:solidFill>
              <a:srgbClr val="1E2761"/>
            </a:solidFill>
            <a:prstDash val="solid"/>
          </a:ln>
        </p:spPr>
      </p:sp>
      <p:sp>
        <p:nvSpPr>
          <p:cNvPr id="4" name="Text 2"/>
          <p:cNvSpPr txBox="1"/>
          <p:nvPr/>
        </p:nvSpPr>
        <p:spPr>
          <a:xfrm>
            <a:off x="548640" y="2613661"/>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Pipeline</a:t>
            </a:r>
            <a:endParaRPr lang="en-US" sz="1400" dirty="0"/>
          </a:p>
        </p:txBody>
      </p:sp>
      <p:sp>
        <p:nvSpPr>
          <p:cNvPr id="5" name="Text 3"/>
          <p:cNvSpPr txBox="1"/>
          <p:nvPr/>
        </p:nvSpPr>
        <p:spPr>
          <a:xfrm>
            <a:off x="548640" y="2978405"/>
            <a:ext cx="11091672" cy="105156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Raw contracts are parsed from PDF, DOCX, or TXT and segmented into clause-level sections using regex-based header detection (numbered clauses, lettered sub-clauses, "Section N" headers). The CUAD dataset is filtered to six target categories and converted into a multi-label training set during preprocessing.</a:t>
            </a:r>
            <a:endParaRPr lang="en-US" sz="1400" dirty="0"/>
          </a:p>
        </p:txBody>
      </p:sp>
      <p:sp>
        <p:nvSpPr>
          <p:cNvPr id="6" name="Text 4"/>
          <p:cNvSpPr txBox="1"/>
          <p:nvPr/>
        </p:nvSpPr>
        <p:spPr>
          <a:xfrm>
            <a:off x="548640" y="3772410"/>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Models</a:t>
            </a:r>
            <a:endParaRPr lang="en-US" sz="1400" dirty="0"/>
          </a:p>
        </p:txBody>
      </p:sp>
      <p:sp>
        <p:nvSpPr>
          <p:cNvPr id="7" name="Text 5"/>
          <p:cNvSpPr txBox="1"/>
          <p:nvPr/>
        </p:nvSpPr>
        <p:spPr>
          <a:xfrm>
            <a:off x="548640" y="4093465"/>
            <a:ext cx="11091672" cy="118872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The baseline model uses a TF-IDF vectorizer (5,000 features, unigrams and bigrams, English stop-words removed) with a One-vs-Rest Logistic Regression classifier, trained on an 80/20 split. The optional transformer model fine-tunes Legal-BERT / DistilBERT on the same data in Google Colab and is loaded with eager attention so per-token attention weights can be exposed for explainability.</a:t>
            </a:r>
            <a:endParaRPr lang="en-US" sz="1400" dirty="0"/>
          </a:p>
        </p:txBody>
      </p:sp>
      <p:sp>
        <p:nvSpPr>
          <p:cNvPr id="8" name="Text 6"/>
          <p:cNvSpPr txBox="1"/>
          <p:nvPr/>
        </p:nvSpPr>
        <p:spPr>
          <a:xfrm>
            <a:off x="548640" y="5018024"/>
            <a:ext cx="11091672" cy="292608"/>
          </a:xfrm>
          <a:prstGeom prst="rect">
            <a:avLst/>
          </a:prstGeom>
          <a:noFill/>
          <a:ln/>
        </p:spPr>
        <p:txBody>
          <a:bodyPr wrap="square" lIns="0" tIns="0" rIns="0" bIns="0" rtlCol="0" anchor="ct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Risk Scoring, Explainability &amp; Deployment</a:t>
            </a:r>
            <a:endParaRPr lang="en-US" sz="1600" dirty="0"/>
          </a:p>
        </p:txBody>
      </p:sp>
      <p:sp>
        <p:nvSpPr>
          <p:cNvPr id="9" name="Text 7"/>
          <p:cNvSpPr txBox="1"/>
          <p:nvPr/>
        </p:nvSpPr>
        <p:spPr>
          <a:xfrm>
            <a:off x="548640" y="5320792"/>
            <a:ext cx="11091672" cy="1828800"/>
          </a:xfrm>
          <a:prstGeom prst="rect">
            <a:avLst/>
          </a:prstGeom>
          <a:noFill/>
          <a:ln/>
        </p:spPr>
        <p:txBody>
          <a:bodyPr wrap="square" lIns="0" tIns="0" rIns="0" bIns="0" rtlCol="0" anchor="t"/>
          <a:lstStyle/>
          <a:p>
            <a:pPr marL="0" indent="0" algn="just">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Risk scoring applies hand-authored regular-expression rules per category — e.g. detecting auto-renewal language without a matching notice-period pattern, or explicit "uncapped liability" phrasing versus protective damages-exclusion language. Explainability surfaces the key terms behind each prediction, and the report generator produces CSV and PDF exports. The application is deployed as a Streamlit web app; 18 automated tests (pytest) cover risk-scoring rules and clause-splitting logic, including regression tests for two bugs found against a real external contract.</a:t>
            </a:r>
            <a:endParaRPr lang="en-US" sz="1400" dirty="0"/>
          </a:p>
        </p:txBody>
      </p:sp>
      <p:sp>
        <p:nvSpPr>
          <p:cNvPr id="10" name="Text 8"/>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pic>
        <p:nvPicPr>
          <p:cNvPr id="13" name="Picture 12">
            <a:extLst>
              <a:ext uri="{FF2B5EF4-FFF2-40B4-BE49-F238E27FC236}">
                <a16:creationId xmlns:a16="http://schemas.microsoft.com/office/drawing/2014/main" id="{074CA529-5C62-682D-6D2A-BDEF2C7FF3EA}"/>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5" name="TextBox 14">
            <a:extLst>
              <a:ext uri="{FF2B5EF4-FFF2-40B4-BE49-F238E27FC236}">
                <a16:creationId xmlns:a16="http://schemas.microsoft.com/office/drawing/2014/main" id="{CE5BDC00-43E0-A94A-E3E4-8848E3D9B791}"/>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66240"/>
            <a:ext cx="11091672" cy="548640"/>
          </a:xfrm>
          <a:prstGeom prst="rect">
            <a:avLst/>
          </a:prstGeom>
          <a:noFill/>
          <a:ln/>
        </p:spPr>
        <p:txBody>
          <a:bodyPr wrap="square" lIns="0" tIns="0" rIns="0" bIns="0" rtlCol="0" anchor="ctr"/>
          <a:lstStyle/>
          <a:p>
            <a:pPr marL="0" indent="0" algn="l">
              <a:buNone/>
            </a:pPr>
            <a:r>
              <a:rPr lang="en-US" sz="2000" b="1" dirty="0">
                <a:solidFill>
                  <a:srgbClr val="000000"/>
                </a:solidFill>
                <a:latin typeface="Times New Roman" pitchFamily="34" charset="0"/>
                <a:ea typeface="Times New Roman" pitchFamily="34" charset="-122"/>
                <a:cs typeface="Times New Roman" pitchFamily="34" charset="-120"/>
              </a:rPr>
              <a:t>9. References</a:t>
            </a:r>
            <a:endParaRPr lang="en-US" sz="2000" dirty="0"/>
          </a:p>
        </p:txBody>
      </p:sp>
      <p:sp>
        <p:nvSpPr>
          <p:cNvPr id="3" name="Shape 1"/>
          <p:cNvSpPr/>
          <p:nvPr/>
        </p:nvSpPr>
        <p:spPr>
          <a:xfrm>
            <a:off x="548640" y="2311400"/>
            <a:ext cx="11091672" cy="0"/>
          </a:xfrm>
          <a:prstGeom prst="line">
            <a:avLst/>
          </a:prstGeom>
          <a:noFill/>
          <a:ln w="15875">
            <a:solidFill>
              <a:srgbClr val="1E2761"/>
            </a:solidFill>
            <a:prstDash val="solid"/>
          </a:ln>
        </p:spPr>
        <p:txBody>
          <a:bodyPr/>
          <a:lstStyle/>
          <a:p>
            <a:endParaRPr lang="en-IN" dirty="0"/>
          </a:p>
        </p:txBody>
      </p:sp>
      <p:sp>
        <p:nvSpPr>
          <p:cNvPr id="4" name="Text 2"/>
          <p:cNvSpPr txBox="1"/>
          <p:nvPr/>
        </p:nvSpPr>
        <p:spPr>
          <a:xfrm>
            <a:off x="548640" y="2578035"/>
            <a:ext cx="11091672" cy="2042160"/>
          </a:xfrm>
          <a:prstGeom prst="rect">
            <a:avLst/>
          </a:prstGeom>
          <a:noFill/>
          <a:ln/>
        </p:spPr>
        <p:txBody>
          <a:bodyPr wrap="square" lIns="0" tIns="0" rIns="0" bIns="0" rtlCol="0" anchor="t"/>
          <a:lstStyle/>
          <a:p>
            <a:pPr marL="0" indent="0" algn="just">
              <a:lnSpc>
                <a:spcPct val="120000"/>
              </a:lnSpc>
              <a:buNone/>
            </a:pPr>
            <a:r>
              <a:rPr lang="en-US" sz="1400" dirty="0">
                <a:solidFill>
                  <a:srgbClr val="000000"/>
                </a:solidFill>
                <a:latin typeface="Times New Roman" pitchFamily="34" charset="0"/>
                <a:ea typeface="Times New Roman" pitchFamily="34" charset="-122"/>
                <a:cs typeface="Times New Roman" pitchFamily="34" charset="-120"/>
              </a:rPr>
              <a:t>[1] D. Hendrycks, C. Burns, A. Chen, and S. Ball, "CUAD: An Expert-Annotated NLP Dataset for Legal Contract Review," in Proc. 35th Conf. Neural Information Processing Systems (NeurIPS) Track on Datasets and Benchmarks, 2021.</a:t>
            </a:r>
            <a:endParaRPr lang="en-US" sz="1400" dirty="0"/>
          </a:p>
          <a:p>
            <a:pPr marL="0" indent="0" algn="just">
              <a:lnSpc>
                <a:spcPct val="120000"/>
              </a:lnSpc>
              <a:buNone/>
            </a:pPr>
            <a:endParaRPr lang="en-US" sz="1400" dirty="0"/>
          </a:p>
          <a:p>
            <a:pPr marL="0" indent="0" algn="just">
              <a:lnSpc>
                <a:spcPct val="120000"/>
              </a:lnSpc>
              <a:buNone/>
            </a:pPr>
            <a:r>
              <a:rPr lang="en-US" sz="1400" dirty="0">
                <a:solidFill>
                  <a:srgbClr val="000000"/>
                </a:solidFill>
                <a:latin typeface="Times New Roman" pitchFamily="34" charset="0"/>
                <a:ea typeface="Times New Roman" pitchFamily="34" charset="-122"/>
                <a:cs typeface="Times New Roman" pitchFamily="34" charset="-120"/>
              </a:rPr>
              <a:t>[2] J. Devlin, M.-W. Chang, K. Lee, and K. Toutanova, "BERT: Pre-training of Deep Bidirectional Transformers for Language Understanding," in Proc. Conf. North American Chapter of the Association for Computational Linguistics (NAACL-HLT), 2019, pp. 4171-4186.</a:t>
            </a:r>
            <a:endParaRPr lang="en-US" sz="1400" dirty="0"/>
          </a:p>
          <a:p>
            <a:pPr marL="0" indent="0" algn="just">
              <a:lnSpc>
                <a:spcPct val="120000"/>
              </a:lnSpc>
              <a:buNone/>
            </a:pPr>
            <a:endParaRPr lang="en-US" sz="1400" dirty="0"/>
          </a:p>
          <a:p>
            <a:pPr marL="0" indent="0" algn="just">
              <a:lnSpc>
                <a:spcPct val="120000"/>
              </a:lnSpc>
              <a:buNone/>
            </a:pPr>
            <a:r>
              <a:rPr lang="en-US" sz="1400" dirty="0">
                <a:solidFill>
                  <a:srgbClr val="000000"/>
                </a:solidFill>
                <a:latin typeface="Times New Roman" pitchFamily="34" charset="0"/>
                <a:ea typeface="Times New Roman" pitchFamily="34" charset="-122"/>
                <a:cs typeface="Times New Roman" pitchFamily="34" charset="-120"/>
              </a:rPr>
              <a:t>[3] I. Chalkidis, M. Fergadiotis, P. Malakasiotis, N. Aletras, and I. Androutsopoulos, "LEGAL-BERT: The Muppets straight out of Law School," in Findings of the Association for Computational Linguistics: EMNLP, 2020, pp. 2898-2904.</a:t>
            </a:r>
            <a:endParaRPr lang="en-US" sz="1400" dirty="0"/>
          </a:p>
          <a:p>
            <a:pPr marL="0" indent="0" algn="just">
              <a:lnSpc>
                <a:spcPct val="120000"/>
              </a:lnSpc>
              <a:buNone/>
            </a:pPr>
            <a:endParaRPr lang="en-US" sz="14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1000" dirty="0">
                <a:solidFill>
                  <a:srgbClr val="595959"/>
                </a:solidFill>
                <a:latin typeface="Times New Roman" pitchFamily="34" charset="0"/>
                <a:ea typeface="Times New Roman" pitchFamily="34" charset="-122"/>
                <a:cs typeface="Times New Roman" pitchFamily="34" charset="-120"/>
              </a:rPr>
              <a:t>ClauseIQ — Contract Clause Risk Classifier</a:t>
            </a:r>
            <a:endParaRPr lang="en-US" sz="1000" dirty="0"/>
          </a:p>
        </p:txBody>
      </p:sp>
      <p:sp>
        <p:nvSpPr>
          <p:cNvPr id="6" name="Text 4"/>
          <p:cNvSpPr txBox="1"/>
          <p:nvPr/>
        </p:nvSpPr>
        <p:spPr>
          <a:xfrm>
            <a:off x="11091672" y="6510528"/>
            <a:ext cx="548640" cy="274320"/>
          </a:xfrm>
          <a:prstGeom prst="rect">
            <a:avLst/>
          </a:prstGeom>
          <a:noFill/>
          <a:ln/>
        </p:spPr>
        <p:txBody>
          <a:bodyPr wrap="square" lIns="0" tIns="0" rIns="0" bIns="0" rtlCol="0" anchor="ctr"/>
          <a:lstStyle/>
          <a:p>
            <a:pPr marL="0" indent="0" algn="r">
              <a:buNone/>
            </a:pPr>
            <a:r>
              <a:rPr lang="en-US" sz="1000" dirty="0">
                <a:solidFill>
                  <a:srgbClr val="595959"/>
                </a:solidFill>
                <a:latin typeface="Times New Roman" pitchFamily="34" charset="0"/>
                <a:ea typeface="Times New Roman" pitchFamily="34" charset="-122"/>
                <a:cs typeface="Times New Roman" pitchFamily="34" charset="-120"/>
              </a:rPr>
              <a:t>9</a:t>
            </a:r>
            <a:endParaRPr lang="en-US" sz="1000" dirty="0"/>
          </a:p>
        </p:txBody>
      </p:sp>
      <p:pic>
        <p:nvPicPr>
          <p:cNvPr id="8" name="Picture 7">
            <a:extLst>
              <a:ext uri="{FF2B5EF4-FFF2-40B4-BE49-F238E27FC236}">
                <a16:creationId xmlns:a16="http://schemas.microsoft.com/office/drawing/2014/main" id="{33A81A97-BF14-F8BD-9080-EB3DE6F223E6}"/>
              </a:ext>
            </a:extLst>
          </p:cNvPr>
          <p:cNvPicPr>
            <a:picLocks noChangeAspect="1"/>
          </p:cNvPicPr>
          <p:nvPr/>
        </p:nvPicPr>
        <p:blipFill>
          <a:blip r:embed="rId3"/>
          <a:stretch>
            <a:fillRect/>
          </a:stretch>
        </p:blipFill>
        <p:spPr>
          <a:xfrm>
            <a:off x="1432560" y="48577"/>
            <a:ext cx="8953500" cy="1400175"/>
          </a:xfrm>
          <a:prstGeom prst="rect">
            <a:avLst/>
          </a:prstGeom>
        </p:spPr>
      </p:pic>
      <p:sp>
        <p:nvSpPr>
          <p:cNvPr id="10" name="TextBox 9">
            <a:extLst>
              <a:ext uri="{FF2B5EF4-FFF2-40B4-BE49-F238E27FC236}">
                <a16:creationId xmlns:a16="http://schemas.microsoft.com/office/drawing/2014/main" id="{517F0EC3-FDA8-E60F-311C-78F8094C41A7}"/>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0" y="3520440"/>
            <a:ext cx="9445752" cy="0"/>
          </a:xfrm>
          <a:prstGeom prst="line">
            <a:avLst/>
          </a:prstGeom>
          <a:noFill/>
          <a:ln w="19050">
            <a:solidFill>
              <a:srgbClr val="1E2761"/>
            </a:solidFill>
            <a:prstDash val="solid"/>
          </a:ln>
        </p:spPr>
      </p:sp>
      <p:sp>
        <p:nvSpPr>
          <p:cNvPr id="3" name="Text 1"/>
          <p:cNvSpPr txBox="1"/>
          <p:nvPr/>
        </p:nvSpPr>
        <p:spPr>
          <a:xfrm>
            <a:off x="0" y="2743200"/>
            <a:ext cx="12188952" cy="731520"/>
          </a:xfrm>
          <a:prstGeom prst="rect">
            <a:avLst/>
          </a:prstGeom>
          <a:noFill/>
          <a:ln/>
        </p:spPr>
        <p:txBody>
          <a:bodyPr wrap="square" lIns="0" tIns="0" rIns="0" bIns="0" rtlCol="0" anchor="ctr"/>
          <a:lstStyle/>
          <a:p>
            <a:pPr marL="0" indent="0" algn="ctr">
              <a:buNone/>
            </a:pPr>
            <a:r>
              <a:rPr lang="en-US" sz="4000" b="1" dirty="0">
                <a:solidFill>
                  <a:srgbClr val="000000"/>
                </a:solidFill>
                <a:latin typeface="Times New Roman" pitchFamily="34" charset="0"/>
                <a:ea typeface="Times New Roman" pitchFamily="34" charset="-122"/>
                <a:cs typeface="Times New Roman" pitchFamily="34" charset="-120"/>
              </a:rPr>
              <a:t>Thank You</a:t>
            </a:r>
            <a:endParaRPr lang="en-US" sz="4000" dirty="0"/>
          </a:p>
        </p:txBody>
      </p:sp>
      <p:sp>
        <p:nvSpPr>
          <p:cNvPr id="4" name="Text 2"/>
          <p:cNvSpPr txBox="1"/>
          <p:nvPr/>
        </p:nvSpPr>
        <p:spPr>
          <a:xfrm>
            <a:off x="0" y="3657600"/>
            <a:ext cx="12188952" cy="457200"/>
          </a:xfrm>
          <a:prstGeom prst="rect">
            <a:avLst/>
          </a:prstGeom>
          <a:noFill/>
          <a:ln/>
        </p:spPr>
        <p:txBody>
          <a:bodyPr wrap="square" lIns="0" tIns="0" rIns="0" bIns="0" rtlCol="0" anchor="ctr"/>
          <a:lstStyle/>
          <a:p>
            <a:pPr marL="0" indent="0" algn="ctr">
              <a:buNone/>
            </a:pPr>
            <a:r>
              <a:rPr lang="en-US" sz="1600" i="1" dirty="0">
                <a:solidFill>
                  <a:srgbClr val="333333"/>
                </a:solidFill>
                <a:latin typeface="Times New Roman" pitchFamily="34" charset="0"/>
                <a:ea typeface="Times New Roman" pitchFamily="34" charset="-122"/>
                <a:cs typeface="Times New Roman" pitchFamily="34" charset="-120"/>
              </a:rPr>
              <a:t>Questions &amp; Discussion</a:t>
            </a:r>
            <a:endParaRPr lang="en-US" sz="1600" dirty="0"/>
          </a:p>
        </p:txBody>
      </p:sp>
      <p:sp>
        <p:nvSpPr>
          <p:cNvPr id="5" name="Text 3"/>
          <p:cNvSpPr txBox="1"/>
          <p:nvPr/>
        </p:nvSpPr>
        <p:spPr>
          <a:xfrm>
            <a:off x="0" y="6126480"/>
            <a:ext cx="12188952" cy="365760"/>
          </a:xfrm>
          <a:prstGeom prst="rect">
            <a:avLst/>
          </a:prstGeom>
          <a:noFill/>
          <a:ln/>
        </p:spPr>
        <p:txBody>
          <a:bodyPr wrap="square" lIns="0" tIns="0" rIns="0" bIns="0" rtlCol="0" anchor="ctr"/>
          <a:lstStyle/>
          <a:p>
            <a:pPr marL="0" indent="0" algn="ctr">
              <a:buNone/>
            </a:pPr>
            <a:r>
              <a:rPr lang="en-US" sz="1200" dirty="0">
                <a:solidFill>
                  <a:srgbClr val="595959"/>
                </a:solidFill>
                <a:latin typeface="Times New Roman" pitchFamily="34" charset="0"/>
                <a:ea typeface="Times New Roman" pitchFamily="34" charset="-122"/>
                <a:cs typeface="Times New Roman" pitchFamily="34" charset="-120"/>
              </a:rPr>
              <a:t>ClauseIQ — Contract Clause Risk Classifier (NLP)</a:t>
            </a:r>
            <a:endParaRPr lang="en-US" sz="1200" dirty="0"/>
          </a:p>
        </p:txBody>
      </p:sp>
      <p:pic>
        <p:nvPicPr>
          <p:cNvPr id="7" name="Picture 6">
            <a:extLst>
              <a:ext uri="{FF2B5EF4-FFF2-40B4-BE49-F238E27FC236}">
                <a16:creationId xmlns:a16="http://schemas.microsoft.com/office/drawing/2014/main" id="{14CF286F-AF1E-AF7D-449B-2ECDB1F9603F}"/>
              </a:ext>
            </a:extLst>
          </p:cNvPr>
          <p:cNvPicPr>
            <a:picLocks noChangeAspect="1"/>
          </p:cNvPicPr>
          <p:nvPr/>
        </p:nvPicPr>
        <p:blipFill>
          <a:blip r:embed="rId3"/>
          <a:stretch>
            <a:fillRect/>
          </a:stretch>
        </p:blipFill>
        <p:spPr>
          <a:xfrm>
            <a:off x="1432560" y="48577"/>
            <a:ext cx="8953500" cy="1400175"/>
          </a:xfrm>
          <a:prstGeom prst="rect">
            <a:avLst/>
          </a:prstGeom>
        </p:spPr>
      </p:pic>
      <p:sp>
        <p:nvSpPr>
          <p:cNvPr id="9" name="TextBox 8">
            <a:extLst>
              <a:ext uri="{FF2B5EF4-FFF2-40B4-BE49-F238E27FC236}">
                <a16:creationId xmlns:a16="http://schemas.microsoft.com/office/drawing/2014/main" id="{C49CDD2D-629F-43D5-C4C3-80D684059AA0}"/>
              </a:ext>
            </a:extLst>
          </p:cNvPr>
          <p:cNvSpPr txBox="1"/>
          <p:nvPr/>
        </p:nvSpPr>
        <p:spPr>
          <a:xfrm>
            <a:off x="3159760" y="1177072"/>
            <a:ext cx="60960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DEPARTMENT OF ARITIFICAL INTELLIGENCE &amp; DATA SCIENCE</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1673</Words>
  <Application>Microsoft Office PowerPoint</Application>
  <PresentationFormat>Widescreen</PresentationFormat>
  <Paragraphs>113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Rudra Pawar</cp:lastModifiedBy>
  <cp:revision>9</cp:revision>
  <dcterms:created xsi:type="dcterms:W3CDTF">2026-09-26T12:06:01Z</dcterms:created>
  <dcterms:modified xsi:type="dcterms:W3CDTF">2026-09-30T15:25:10Z</dcterms:modified>
</cp:coreProperties>
</file>